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Overview of the four-caller PGx pipeline. Each tool is run independently; results are harmonized into a consensus.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slide. The disagreements are the point — we surface them, not hide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to right: inputs fan out to four callers, each parsed into one schema, harmonized, then collapsed to a consensus with a discordance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Comparison table. Note Aldy's non-commercial license and Cyrius's single-gene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Stargazer: broad panel, predecessor to PyPGx. Kept as an independent comparison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Cyrius: CYP2D6 specialist, highest accuracy on that gene. WGS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PyPGx: widest gene and data-type coverage, strong SV detection.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Aldy: optimization-based, strong on CN/phasing. Non-commercial license — fine for this academic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steps: harmonize nomenclature via rules + a curated table, then plurality vote with explicit agreement levels and a discordance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deliverable is a consensus plus a transparent record of where tools disagree.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41248" y="3794760"/>
            <a:ext cx="10332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pgx_pipeline · consensus PGx star-allele calling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ip-Stargazer"/>
          <p:cNvSpPr/>
          <p:nvPr/>
        </p:nvSpPr>
        <p:spPr>
          <a:xfrm>
            <a:off x="8778240" y="233172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778240" y="23317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Stargazer</a:t>
            </a:r>
            <a:endParaRPr lang="en-US" sz="1100" dirty="0"/>
          </a:p>
        </p:txBody>
      </p:sp>
      <p:sp>
        <p:nvSpPr>
          <p:cNvPr id="4" name="chip-Cyrius"/>
          <p:cNvSpPr/>
          <p:nvPr/>
        </p:nvSpPr>
        <p:spPr>
          <a:xfrm>
            <a:off x="8778240" y="289864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778240" y="2898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Cyrius</a:t>
            </a:r>
            <a:endParaRPr lang="en-US" sz="1100" dirty="0"/>
          </a:p>
        </p:txBody>
      </p:sp>
      <p:sp>
        <p:nvSpPr>
          <p:cNvPr id="6" name="chip-PyPGx"/>
          <p:cNvSpPr/>
          <p:nvPr/>
        </p:nvSpPr>
        <p:spPr>
          <a:xfrm>
            <a:off x="8778240" y="34655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2E8B9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778240" y="346557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PyPGx</a:t>
            </a:r>
            <a:endParaRPr lang="en-US" sz="1100" dirty="0"/>
          </a:p>
        </p:txBody>
      </p:sp>
      <p:sp>
        <p:nvSpPr>
          <p:cNvPr id="8" name="chip-Aldy"/>
          <p:cNvSpPr/>
          <p:nvPr/>
        </p:nvSpPr>
        <p:spPr>
          <a:xfrm>
            <a:off x="8778240" y="403250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3C4F7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778240" y="40325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Aldy</a:t>
            </a:r>
            <a:endParaRPr lang="en-US" sz="1100" dirty="0"/>
          </a:p>
        </p:txBody>
      </p:sp>
      <p:sp>
        <p:nvSpPr>
          <p:cNvPr id="10" name="tick"/>
          <p:cNvSpPr/>
          <p:nvPr/>
        </p:nvSpPr>
        <p:spPr>
          <a:xfrm>
            <a:off x="822960" y="1737360"/>
            <a:ext cx="457200" cy="73152"/>
          </a:xfrm>
          <a:prstGeom prst="rect">
            <a:avLst/>
          </a:prstGeom>
          <a:solidFill>
            <a:srgbClr val="F2A104"/>
          </a:solidFill>
          <a:ln/>
        </p:spPr>
      </p:sp>
      <p:sp>
        <p:nvSpPr>
          <p:cNvPr id="11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multi-caller pharmacogenomics pipeline</a:t>
            </a:r>
            <a:endParaRPr lang="en-US" sz="4400" dirty="0"/>
          </a:p>
        </p:txBody>
      </p:sp>
      <p:sp>
        <p:nvSpPr>
          <p:cNvPr id="12" name="Text 0"/>
          <p:cNvSpPr/>
          <p:nvPr>
            <p:ph idx="101" type="body" hasCustomPrompt="1"/>
          </p:nvPr>
        </p:nvSpPr>
        <p:spPr>
          <a:xfrm>
            <a:off x="841248" y="3794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four PGx star-allele callers over the same samples, then reconcile their calls.</a:t>
            </a:r>
            <a:endParaRPr lang="en-US" sz="18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Stargazer · Cyrius · PyPGx · Aldy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F9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non-profit research  ·  GRCh37 / GRCh38  ·  Nextflow + Singularity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run several callers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tool calls every pharmacogene well. They disagree on which genes and variants they implement — and on how they name the same allele.</a:t>
            </a:r>
            <a:endParaRPr lang="en-US" sz="1500" dirty="0"/>
          </a:p>
        </p:txBody>
      </p:sp>
      <p:sp>
        <p:nvSpPr>
          <p:cNvPr id="4" name="why0"/>
          <p:cNvSpPr/>
          <p:nvPr/>
        </p:nvSpPr>
        <p:spPr>
          <a:xfrm>
            <a:off x="548640" y="214884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5" name="whyc0"/>
          <p:cNvSpPr/>
          <p:nvPr/>
        </p:nvSpPr>
        <p:spPr>
          <a:xfrm>
            <a:off x="822960" y="24231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4612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gene coverage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886200"/>
            <a:ext cx="29809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 implements a star allele another lacks, so it falls back to the nearest allele it knows.</a:t>
            </a:r>
            <a:endParaRPr lang="en-US" sz="1300" dirty="0"/>
          </a:p>
        </p:txBody>
      </p:sp>
      <p:sp>
        <p:nvSpPr>
          <p:cNvPr id="9" name="why1"/>
          <p:cNvSpPr/>
          <p:nvPr/>
        </p:nvSpPr>
        <p:spPr>
          <a:xfrm>
            <a:off x="4315968" y="214884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0" name="whyc1"/>
          <p:cNvSpPr/>
          <p:nvPr/>
        </p:nvSpPr>
        <p:spPr>
          <a:xfrm>
            <a:off x="4590288" y="2423160"/>
            <a:ext cx="640080" cy="640080"/>
          </a:xfrm>
          <a:prstGeom prst="ellipse">
            <a:avLst/>
          </a:prstGeom>
          <a:solidFill>
            <a:srgbClr val="2E8B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90288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324612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nomenclature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90288" y="3886200"/>
            <a:ext cx="29809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GSTM1 deletion is written del by one tool, *0 by another, and - by a third.</a:t>
            </a:r>
            <a:endParaRPr lang="en-US" sz="1300" dirty="0"/>
          </a:p>
        </p:txBody>
      </p:sp>
      <p:sp>
        <p:nvSpPr>
          <p:cNvPr id="14" name="why2"/>
          <p:cNvSpPr/>
          <p:nvPr/>
        </p:nvSpPr>
        <p:spPr>
          <a:xfrm>
            <a:off x="8083296" y="2148840"/>
            <a:ext cx="3529584" cy="3200400"/>
          </a:xfrm>
          <a:prstGeom prst="roundRect">
            <a:avLst>
              <a:gd name="adj" fmla="val 2286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whyc2"/>
          <p:cNvSpPr/>
          <p:nvPr/>
        </p:nvSpPr>
        <p:spPr>
          <a:xfrm>
            <a:off x="8357616" y="242316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7616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357616" y="3246120"/>
            <a:ext cx="29809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variants are hard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7616" y="3886200"/>
            <a:ext cx="29809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Deletions, duplications and CYP2D6/2D7 hybrids are where callers diverge most.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turns these differences into an explicit, auditable consensus instead of a silent mismatch.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at a glance</a:t>
            </a:r>
            <a:endParaRPr lang="en-US" sz="3000" dirty="0"/>
          </a:p>
        </p:txBody>
      </p:sp>
      <p:sp>
        <p:nvSpPr>
          <p:cNvPr id="3" name="input"/>
          <p:cNvSpPr/>
          <p:nvPr/>
        </p:nvSpPr>
        <p:spPr>
          <a:xfrm>
            <a:off x="548640" y="1737360"/>
            <a:ext cx="1828800" cy="3017520"/>
          </a:xfrm>
          <a:prstGeom prst="roundRect">
            <a:avLst>
              <a:gd name="adj" fmla="val 4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965960"/>
            <a:ext cx="15544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4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BAM / CRAM</a:t>
            </a:r>
            <a:endParaRPr lang="en-US" sz="12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(WGS · WES)</a:t>
            </a:r>
            <a:endParaRPr lang="en-US" sz="12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VCF</a:t>
            </a:r>
            <a:endParaRPr lang="en-US" sz="12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(arrays)</a:t>
            </a:r>
            <a:endParaRPr lang="en-US" sz="1200" dirty="0"/>
          </a:p>
        </p:txBody>
      </p:sp>
      <p:sp>
        <p:nvSpPr>
          <p:cNvPr id="5" name="callergroup"/>
          <p:cNvSpPr/>
          <p:nvPr/>
        </p:nvSpPr>
        <p:spPr>
          <a:xfrm>
            <a:off x="2926080" y="1600200"/>
            <a:ext cx="2560320" cy="3291840"/>
          </a:xfrm>
          <a:prstGeom prst="roundRect">
            <a:avLst>
              <a:gd name="adj" fmla="val 2857"/>
            </a:avLst>
          </a:prstGeom>
          <a:solidFill>
            <a:srgbClr val="EAF1F5"/>
          </a:solidFill>
          <a:ln w="12700">
            <a:solidFill>
              <a:srgbClr val="CBD6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6" name="chip-Stargazer"/>
          <p:cNvSpPr/>
          <p:nvPr/>
        </p:nvSpPr>
        <p:spPr>
          <a:xfrm>
            <a:off x="3108960" y="1810512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108960" y="181051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Stargazer</a:t>
            </a:r>
            <a:endParaRPr lang="en-US" sz="1100" dirty="0"/>
          </a:p>
        </p:txBody>
      </p:sp>
      <p:sp>
        <p:nvSpPr>
          <p:cNvPr id="8" name="chip-Cyrius"/>
          <p:cNvSpPr/>
          <p:nvPr/>
        </p:nvSpPr>
        <p:spPr>
          <a:xfrm>
            <a:off x="3108960" y="2523744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108960" y="252374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Cyrius</a:t>
            </a:r>
            <a:endParaRPr lang="en-US" sz="1100" dirty="0"/>
          </a:p>
        </p:txBody>
      </p:sp>
      <p:sp>
        <p:nvSpPr>
          <p:cNvPr id="10" name="chip-PyPGx"/>
          <p:cNvSpPr/>
          <p:nvPr/>
        </p:nvSpPr>
        <p:spPr>
          <a:xfrm>
            <a:off x="3108960" y="3236976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2E8B9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108960" y="323697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PyPGx</a:t>
            </a:r>
            <a:endParaRPr lang="en-US" sz="1100" dirty="0"/>
          </a:p>
        </p:txBody>
      </p:sp>
      <p:sp>
        <p:nvSpPr>
          <p:cNvPr id="12" name="chip-Aldy"/>
          <p:cNvSpPr/>
          <p:nvPr/>
        </p:nvSpPr>
        <p:spPr>
          <a:xfrm>
            <a:off x="3108960" y="3950208"/>
            <a:ext cx="2194560" cy="548640"/>
          </a:xfrm>
          <a:prstGeom prst="roundRect">
            <a:avLst>
              <a:gd name="adj" fmla="val 10000"/>
            </a:avLst>
          </a:prstGeom>
          <a:solidFill>
            <a:srgbClr val="3C4F7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108960" y="39502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Aldy</a:t>
            </a:r>
            <a:endParaRPr lang="en-US" sz="1100" dirty="0"/>
          </a:p>
        </p:txBody>
      </p:sp>
      <p:sp>
        <p:nvSpPr>
          <p:cNvPr id="14" name="harm"/>
          <p:cNvSpPr/>
          <p:nvPr/>
        </p:nvSpPr>
        <p:spPr>
          <a:xfrm>
            <a:off x="6309360" y="2057400"/>
            <a:ext cx="2194560" cy="23774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6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64808" y="2286000"/>
            <a:ext cx="188366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HARMONIZE</a:t>
            </a:r>
            <a:endParaRPr lang="en-US" sz="1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each tool into one schema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rules + curated table</a:t>
            </a:r>
            <a:endParaRPr lang="en-US" sz="1200" dirty="0"/>
          </a:p>
        </p:txBody>
      </p:sp>
      <p:sp>
        <p:nvSpPr>
          <p:cNvPr id="16" name="cons"/>
          <p:cNvSpPr/>
          <p:nvPr/>
        </p:nvSpPr>
        <p:spPr>
          <a:xfrm>
            <a:off x="9326880" y="2057400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491472" y="2286000"/>
            <a:ext cx="1965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CONSENSUS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diplotype per gene</a:t>
            </a:r>
            <a:endParaRPr lang="en-US" sz="13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DC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level</a:t>
            </a:r>
            <a:endParaRPr lang="en-US" sz="13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discordance report</a:t>
            </a:r>
            <a:endParaRPr lang="en-US" sz="1300" dirty="0"/>
          </a:p>
        </p:txBody>
      </p:sp>
      <p:sp>
        <p:nvSpPr>
          <p:cNvPr id="18" name="arr2.62"/>
          <p:cNvSpPr/>
          <p:nvPr/>
        </p:nvSpPr>
        <p:spPr>
          <a:xfrm>
            <a:off x="2395728" y="3063240"/>
            <a:ext cx="411480" cy="365760"/>
          </a:xfrm>
          <a:prstGeom prst="rightArrow">
            <a:avLst/>
          </a:prstGeom>
          <a:solidFill>
            <a:srgbClr val="7C8B99"/>
          </a:solidFill>
          <a:ln/>
        </p:spPr>
      </p:sp>
      <p:sp>
        <p:nvSpPr>
          <p:cNvPr id="19" name="arr6.1"/>
          <p:cNvSpPr/>
          <p:nvPr/>
        </p:nvSpPr>
        <p:spPr>
          <a:xfrm>
            <a:off x="5577840" y="3063240"/>
            <a:ext cx="411480" cy="365760"/>
          </a:xfrm>
          <a:prstGeom prst="rightArrow">
            <a:avLst/>
          </a:prstGeom>
          <a:solidFill>
            <a:srgbClr val="7C8B99"/>
          </a:solidFill>
          <a:ln/>
        </p:spPr>
      </p:sp>
      <p:sp>
        <p:nvSpPr>
          <p:cNvPr id="20" name="arr9.42"/>
          <p:cNvSpPr/>
          <p:nvPr/>
        </p:nvSpPr>
        <p:spPr>
          <a:xfrm>
            <a:off x="8613648" y="3063240"/>
            <a:ext cx="411480" cy="365760"/>
          </a:xfrm>
          <a:prstGeom prst="rightArrow">
            <a:avLst/>
          </a:prstGeom>
          <a:solidFill>
            <a:srgbClr val="7C8B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0292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926080" y="5029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callers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50292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schema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326880" y="50292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8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 result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5715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PharmCAT (CPIC drug guidance) and OptiType (HLA) also run in the full pipeline; this deck focuses on the four star-allele callers.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callers at a glance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2194560"/>
                <a:gridCol w="3319272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Stargazer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pharmacogenes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WGS · targeted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Broad gene panel; PyPGx predecessor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Cyrius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CYP2D6 only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Best-in-class CYP2D6 / 2D7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Apache-2.0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E8B9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PyPGx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 genes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WGS · WES · array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Structural variants: del / dup / hybrid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C4F7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Aldy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40+ genes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WGS · WES · targeted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 number + phasing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F2A1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Non-commercial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caller is a separate Nextflow process and Singularity container; every run calls the tool's full gene set.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Stargazer</a:t>
            </a:r>
            <a:endParaRPr lang="en-US" sz="3000" dirty="0"/>
          </a:p>
        </p:txBody>
      </p:sp>
      <p:sp>
        <p:nvSpPr>
          <p:cNvPr id="3" name="tpanel"/>
          <p:cNvSpPr/>
          <p:nvPr/>
        </p:nvSpPr>
        <p:spPr>
          <a:xfrm>
            <a:off x="548640" y="1508760"/>
            <a:ext cx="3200400" cy="4572000"/>
          </a:xfrm>
          <a:prstGeom prst="roundRect">
            <a:avLst>
              <a:gd name="adj" fmla="val 228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Stargazer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Star-allele caller across a broad panel of pharmacogenes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pharmacogenes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1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WGS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09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targeted panels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5544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011680"/>
            <a:ext cx="7589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star alleles from read depth and variant calls across many CYP and non-CYP genes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structural variation using copy-number ratios against a control gene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Long-standing academic tool, widely used as a benchmark in PGx caller comparisons</a:t>
            </a:r>
            <a:endParaRPr lang="en-US" sz="1400" dirty="0"/>
          </a:p>
        </p:txBody>
      </p:sp>
      <p:sp>
        <p:nvSpPr>
          <p:cNvPr id="12" name="tnote"/>
          <p:cNvSpPr/>
          <p:nvPr/>
        </p:nvSpPr>
        <p:spPr>
          <a:xfrm>
            <a:off x="4023360" y="4434840"/>
            <a:ext cx="7616952" cy="1645920"/>
          </a:xfrm>
          <a:prstGeom prst="roundRect">
            <a:avLst>
              <a:gd name="adj" fmla="val 4444"/>
            </a:avLst>
          </a:prstGeom>
          <a:solidFill>
            <a:srgbClr val="FFF6E6"/>
          </a:solidFill>
          <a:ln w="12700">
            <a:solidFill>
              <a:srgbClr val="F2D79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06240" y="4599432"/>
            <a:ext cx="7269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Heads-up:  </a:t>
            </a:r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Stargazer is superseded by PyPGx (same author). In this pipeline it serves as an independent cross-check; for new work PyPGx is the maintained successor.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Cyrius</a:t>
            </a:r>
            <a:endParaRPr lang="en-US" sz="3000" dirty="0"/>
          </a:p>
        </p:txBody>
      </p:sp>
      <p:sp>
        <p:nvSpPr>
          <p:cNvPr id="3" name="tpanel"/>
          <p:cNvSpPr/>
          <p:nvPr/>
        </p:nvSpPr>
        <p:spPr>
          <a:xfrm>
            <a:off x="548640" y="1508760"/>
            <a:ext cx="3200400" cy="4572000"/>
          </a:xfrm>
          <a:prstGeom prst="roundRect">
            <a:avLst>
              <a:gd name="adj" fmla="val 2286"/>
            </a:avLst>
          </a:prstGeom>
          <a:solidFill>
            <a:srgbClr val="065A82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Cyrius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caller for the notoriously hard CYP2D6 locus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99%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CYP2D6 concordance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1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09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gene, done well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5544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011680"/>
            <a:ext cx="7589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CYP2D6 against its pseudogene CYP2D7, where generic callers struggle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copy number, gene deletions, duplications and 2D6/2D7 hybrids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 Illumina; integrated into the DRAGEN platform</a:t>
            </a:r>
            <a:endParaRPr lang="en-US" sz="1400" dirty="0"/>
          </a:p>
        </p:txBody>
      </p:sp>
      <p:sp>
        <p:nvSpPr>
          <p:cNvPr id="12" name="tnote"/>
          <p:cNvSpPr/>
          <p:nvPr/>
        </p:nvSpPr>
        <p:spPr>
          <a:xfrm>
            <a:off x="4023360" y="4434840"/>
            <a:ext cx="7616952" cy="1645920"/>
          </a:xfrm>
          <a:prstGeom prst="roundRect">
            <a:avLst>
              <a:gd name="adj" fmla="val 4444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06240" y="4599432"/>
            <a:ext cx="7269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here:  </a:t>
            </a:r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Cyrius runs on WGS only and reports CYP2D6 alone — it anchors the consensus for the single most clinically important and hardest-to-call gene.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PyPGx</a:t>
            </a:r>
            <a:endParaRPr lang="en-US" sz="3000" dirty="0"/>
          </a:p>
        </p:txBody>
      </p:sp>
      <p:sp>
        <p:nvSpPr>
          <p:cNvPr id="3" name="tpanel"/>
          <p:cNvSpPr/>
          <p:nvPr/>
        </p:nvSpPr>
        <p:spPr>
          <a:xfrm>
            <a:off x="548640" y="1508760"/>
            <a:ext cx="3200400" cy="4572000"/>
          </a:xfrm>
          <a:prstGeom prst="roundRect">
            <a:avLst>
              <a:gd name="adj" fmla="val 2286"/>
            </a:avLst>
          </a:prstGeom>
          <a:solidFill>
            <a:srgbClr val="2E8B9E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PyPGx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Star-allele and structural-variant caller across 87 genes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supported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1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09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types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5544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8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011680"/>
            <a:ext cx="7589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SNV/indel star alleles plus structural variants: deletions, duplications, hybrids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trained classifier per gene per genome build for SV detection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WGS/WES BAM (NGS pipeline) and genotyping arrays (chip pipeline)</a:t>
            </a:r>
            <a:endParaRPr lang="en-US" sz="1400" dirty="0"/>
          </a:p>
        </p:txBody>
      </p:sp>
      <p:sp>
        <p:nvSpPr>
          <p:cNvPr id="12" name="tnote"/>
          <p:cNvSpPr/>
          <p:nvPr/>
        </p:nvSpPr>
        <p:spPr>
          <a:xfrm>
            <a:off x="4023360" y="4434840"/>
            <a:ext cx="7616952" cy="1645920"/>
          </a:xfrm>
          <a:prstGeom prst="roundRect">
            <a:avLst>
              <a:gd name="adj" fmla="val 4444"/>
            </a:avLst>
          </a:prstGeom>
          <a:solidFill>
            <a:srgbClr val="EAF1F5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06240" y="4599432"/>
            <a:ext cx="7269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E8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central:  </a:t>
            </a:r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broadest coverage and the only caller here spanning WGS, WES and arrays — so it contributes a call for almost every gene in the consensus.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Aldy</a:t>
            </a:r>
            <a:endParaRPr lang="en-US" sz="3000" dirty="0"/>
          </a:p>
        </p:txBody>
      </p:sp>
      <p:sp>
        <p:nvSpPr>
          <p:cNvPr id="3" name="tpanel"/>
          <p:cNvSpPr/>
          <p:nvPr/>
        </p:nvSpPr>
        <p:spPr>
          <a:xfrm>
            <a:off x="548640" y="1508760"/>
            <a:ext cx="3200400" cy="4572000"/>
          </a:xfrm>
          <a:prstGeom prst="roundRect">
            <a:avLst>
              <a:gd name="adj" fmla="val 2286"/>
            </a:avLst>
          </a:prstGeom>
          <a:solidFill>
            <a:srgbClr val="3C4F76"/>
          </a:solidFill>
          <a:ln/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Aldy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42316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EA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Combinatorial-optimization genotyper for 40+ pharmacogenes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3832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40+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pharmacogenes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519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470916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D4E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phasing model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1554480"/>
            <a:ext cx="7589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C4F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023360" y="2011680"/>
            <a:ext cx="75895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Reconstructs diplotypes by optimizing over copy number, variants and phasing jointly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across WGS, WES and targeted sequencing</a:t>
            </a:r>
            <a:endParaRPr lang="en-US" sz="1400" dirty="0"/>
          </a:p>
          <a:p>
            <a:pPr algn="l"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23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on complex copy-number and fusion configurations</a:t>
            </a:r>
            <a:endParaRPr lang="en-US" sz="1400" dirty="0"/>
          </a:p>
        </p:txBody>
      </p:sp>
      <p:sp>
        <p:nvSpPr>
          <p:cNvPr id="12" name="tnote"/>
          <p:cNvSpPr/>
          <p:nvPr/>
        </p:nvSpPr>
        <p:spPr>
          <a:xfrm>
            <a:off x="4023360" y="4434840"/>
            <a:ext cx="7616952" cy="1645920"/>
          </a:xfrm>
          <a:prstGeom prst="roundRect">
            <a:avLst>
              <a:gd name="adj" fmla="val 4444"/>
            </a:avLst>
          </a:prstGeom>
          <a:solidFill>
            <a:srgbClr val="FFF6E6"/>
          </a:solidFill>
          <a:ln w="12700">
            <a:solidFill>
              <a:srgbClr val="F2D79A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206240" y="4599432"/>
            <a:ext cx="72694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2A1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 </a:t>
            </a:r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Aldy is free for academic / non-commercial research only (Indiana University). This deployment qualifies; commercial or clinical use needs a separate license. github.com/0xTCG/aldy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8404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24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four answers to one — with the differences kept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Harmonize the names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3949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1945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says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Canonical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*2  (as null)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30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65A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5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720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5565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GSTM1 deletion — one biology, four spellings → one canonical allele.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1417320"/>
            <a:ext cx="5303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E8B9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Vote, and flag disagreement</a:t>
            </a:r>
            <a:endParaRPr lang="en-US" sz="1600" dirty="0"/>
          </a:p>
        </p:txBody>
      </p:sp>
      <p:sp>
        <p:nvSpPr>
          <p:cNvPr id="7" name="chip-FULL"/>
          <p:cNvSpPr/>
          <p:nvPr/>
        </p:nvSpPr>
        <p:spPr>
          <a:xfrm>
            <a:off x="6309360" y="1874520"/>
            <a:ext cx="1920240" cy="530352"/>
          </a:xfrm>
          <a:prstGeom prst="roundRect">
            <a:avLst>
              <a:gd name="adj" fmla="val 10345"/>
            </a:avLst>
          </a:prstGeom>
          <a:solidFill>
            <a:srgbClr val="2E8B9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309360" y="1874520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8366760" y="1874520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callers agree</a:t>
            </a:r>
            <a:endParaRPr lang="en-US" sz="1300" dirty="0"/>
          </a:p>
        </p:txBody>
      </p:sp>
      <p:sp>
        <p:nvSpPr>
          <p:cNvPr id="10" name="chip-MAJORITY"/>
          <p:cNvSpPr/>
          <p:nvPr/>
        </p:nvSpPr>
        <p:spPr>
          <a:xfrm>
            <a:off x="6309360" y="2587752"/>
            <a:ext cx="1920240" cy="530352"/>
          </a:xfrm>
          <a:prstGeom prst="roundRect">
            <a:avLst>
              <a:gd name="adj" fmla="val 10345"/>
            </a:avLst>
          </a:prstGeom>
          <a:solidFill>
            <a:srgbClr val="1C7293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309360" y="2587752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8366760" y="2587752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plurality winner; dissenters logged</a:t>
            </a:r>
            <a:endParaRPr lang="en-US" sz="1300" dirty="0"/>
          </a:p>
        </p:txBody>
      </p:sp>
      <p:sp>
        <p:nvSpPr>
          <p:cNvPr id="13" name="chip-TIE / NONE"/>
          <p:cNvSpPr/>
          <p:nvPr/>
        </p:nvSpPr>
        <p:spPr>
          <a:xfrm>
            <a:off x="6309360" y="3300984"/>
            <a:ext cx="1920240" cy="530352"/>
          </a:xfrm>
          <a:prstGeom prst="roundRect">
            <a:avLst>
              <a:gd name="adj" fmla="val 10345"/>
            </a:avLst>
          </a:prstGeom>
          <a:solidFill>
            <a:srgbClr val="F2A10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3300984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 / NONE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8366760" y="330098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winner — sent to review</a:t>
            </a:r>
            <a:endParaRPr lang="en-US" sz="1300" dirty="0"/>
          </a:p>
        </p:txBody>
      </p:sp>
      <p:sp>
        <p:nvSpPr>
          <p:cNvPr id="16" name="chip-SINGLE"/>
          <p:cNvSpPr/>
          <p:nvPr/>
        </p:nvSpPr>
        <p:spPr>
          <a:xfrm>
            <a:off x="6309360" y="4014216"/>
            <a:ext cx="1920240" cy="530352"/>
          </a:xfrm>
          <a:prstGeom prst="roundRect">
            <a:avLst>
              <a:gd name="adj" fmla="val 10345"/>
            </a:avLst>
          </a:prstGeom>
          <a:solidFill>
            <a:srgbClr val="7C8B9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309360" y="4014216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66760" y="401421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caller covered the gene</a:t>
            </a:r>
            <a:endParaRPr lang="en-US" sz="1300" dirty="0"/>
          </a:p>
        </p:txBody>
      </p:sp>
      <p:sp>
        <p:nvSpPr>
          <p:cNvPr id="19" name="disc"/>
          <p:cNvSpPr/>
          <p:nvPr/>
        </p:nvSpPr>
        <p:spPr>
          <a:xfrm>
            <a:off x="6309360" y="4892040"/>
            <a:ext cx="5330952" cy="1188720"/>
          </a:xfrm>
          <a:prstGeom prst="roundRect">
            <a:avLst>
              <a:gd name="adj" fmla="val 6154"/>
            </a:avLst>
          </a:prstGeom>
          <a:solidFill>
            <a:srgbClr val="EAF1F5"/>
          </a:solidFill>
          <a:ln w="12700">
            <a:solidFill>
              <a:srgbClr val="CBD6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7B4">
                <a:alpha val="35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6473952" y="50292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hidden.  </a:t>
            </a:r>
            <a:pPr algn="l" indent="0" marL="0">
              <a:buNone/>
            </a:pPr>
            <a:r>
              <a:rPr lang="en-US" sz="1300" dirty="0">
                <a:solidFill>
                  <a:srgbClr val="3347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below FULL agreement goes to a discordance report, and unknown allele names go to an unmapped list for curation.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42823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C8B9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28600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consensus call set, fully auditable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41248" y="379476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independent callers — Stargazer, Cyrius, PyPGx, Aldy — reconciled per gene.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strengthens confidence; disagreement is surfaced, not silently resolved.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5257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5532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GRCh37 / GRCh38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498848" y="5257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498848" y="5532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WGS · WES · arrays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156448" y="5257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156448" y="553212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Nextflow + Singularity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GxOcean">
  <a:themeElements>
    <a:clrScheme name="PGxOcean">
      <a:dk1>
        <a:srgbClr val="0E1B2A"/>
      </a:dk1>
      <a:lt1>
        <a:srgbClr val="FFFFFF"/>
      </a:lt1>
      <a:dk2>
        <a:srgbClr val="21295C"/>
      </a:dk2>
      <a:lt2>
        <a:srgbClr val="EAF1F5"/>
      </a:lt2>
      <a:accent1>
        <a:srgbClr val="065A82"/>
      </a:accent1>
      <a:accent2>
        <a:srgbClr val="1C7293"/>
      </a:accent2>
      <a:accent3>
        <a:srgbClr val="2E8B9E"/>
      </a:accent3>
      <a:accent4>
        <a:srgbClr val="4FB0C6"/>
      </a:accent4>
      <a:accent5>
        <a:srgbClr val="F2A104"/>
      </a:accent5>
      <a:accent6>
        <a:srgbClr val="7C8B99"/>
      </a:accent6>
      <a:hlink>
        <a:srgbClr val="065A82"/>
      </a:hlink>
      <a:folHlink>
        <a:srgbClr val="1C7293"/>
      </a:folHlink>
    </a:clrScheme>
    <a:fontScheme name="PGxOcea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Academic non-profit 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pgx_pipeline</dc:creator>
  <cp:lastModifiedBy>pgx_pipeline</cp:lastModifiedBy>
  <cp:revision>1</cp:revision>
  <dcterms:created xsi:type="dcterms:W3CDTF">2026-10-26T13:51:02Z</dcterms:created>
  <dcterms:modified xsi:type="dcterms:W3CDTF">2026-10-26T13:51:02Z</dcterms:modified>
</cp:coreProperties>
</file>